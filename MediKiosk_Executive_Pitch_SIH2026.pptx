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CFF"/>
                </a:solidFill>
                <a:latin typeface="Plus Jakarta Sans"/>
              </a:rPr>
              <a:t>SMART INDIA HACKATHON 2026 • PROBLEM STATEMENT ID: SIH26047</a:t>
            </a:r>
          </a:p>
          <a:p>
            <a:pPr>
              <a:spcBef>
                <a:spcPts val="1400"/>
              </a:spcBef>
            </a:pPr>
            <a:r>
              <a:rPr sz="3600" b="1">
                <a:solidFill>
                  <a:srgbClr val="FFFFFF"/>
                </a:solidFill>
                <a:latin typeface="Plus Jakarta Sans"/>
              </a:rPr>
              <a:t>MediKiosk: AI-Powered Digital Clinical Intake &amp; Triage Platform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CBD5E1"/>
                </a:solidFill>
                <a:latin typeface="Inter"/>
              </a:rPr>
              <a:t>Bridging India's 2-Minute OPD Bottleneck with Native Dual-Stream (Allopathy + AYUSH) Automated Intake, Vision OCR &amp; ABDM FHIR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2377440" cy="137160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2377440" cy="137160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r>
              <a:rPr sz="1000" b="1">
                <a:solidFill>
                  <a:srgbClr val="006194"/>
                </a:solidFill>
                <a:latin typeface="Plus Jakarta Sans"/>
              </a:rPr>
              <a:t>THEME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MedTech / HealthTech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389120"/>
            <a:ext cx="2377440" cy="137160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389120"/>
            <a:ext cx="2377440" cy="137160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r>
              <a:rPr sz="1000" b="1">
                <a:solidFill>
                  <a:srgbClr val="006781"/>
                </a:solidFill>
                <a:latin typeface="Plus Jakarta Sans"/>
              </a:rPr>
              <a:t>PS CATEGORY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Software (Kiosk/AI)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89120"/>
            <a:ext cx="2377440" cy="137160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389120"/>
            <a:ext cx="2377440" cy="137160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r>
              <a:rPr sz="1000" b="1">
                <a:solidFill>
                  <a:srgbClr val="006948"/>
                </a:solidFill>
                <a:latin typeface="Plus Jakarta Sans"/>
              </a:rPr>
              <a:t>TEAM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Allied (SIH2026)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39" y="4389120"/>
            <a:ext cx="2377440" cy="137160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109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39" y="4389120"/>
            <a:ext cx="2377440" cy="137160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r>
              <a:rPr sz="1000" b="1">
                <a:solidFill>
                  <a:srgbClr val="1095C1"/>
                </a:solidFill>
                <a:latin typeface="Plus Jakarta Sans"/>
              </a:rPr>
              <a:t>DEVELOPMENT STATUS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Plus Jakarta Sans"/>
              </a:rPr>
              <a:t>100% Functional App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PROBLEM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The OPD Crisis: India's 2-Minute Diagnostic Bottleneck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Tertiary hospitals face 4,000–10,000 daily patients where consultation duration limits clinical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r>
              <a:rPr sz="2400" b="1">
                <a:solidFill>
                  <a:srgbClr val="BA1A1A"/>
                </a:solidFill>
                <a:latin typeface="Plus Jakarta Sans"/>
              </a:rPr>
              <a:t>2.0 min</a:t>
            </a:r>
          </a:p>
          <a:p>
            <a:r>
              <a:rPr sz="1100" b="1">
                <a:solidFill>
                  <a:srgbClr val="131B2E"/>
                </a:solidFill>
                <a:latin typeface="Plus Jakarta Sans"/>
              </a:rPr>
              <a:t>Average Indian OPD Consult</a:t>
            </a:r>
          </a:p>
          <a:p>
            <a:r>
              <a:rPr sz="950">
                <a:solidFill>
                  <a:srgbClr val="64748B"/>
                </a:solidFill>
                <a:latin typeface="Inter"/>
              </a:rPr>
              <a:t>BMJ Open (2017) study of 67 nations showed Indian consultations are among the world's shortest.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r>
              <a:rPr sz="2400" b="1">
                <a:solidFill>
                  <a:srgbClr val="006194"/>
                </a:solidFill>
                <a:latin typeface="Plus Jakarta Sans"/>
              </a:rPr>
              <a:t>70-80%</a:t>
            </a:r>
          </a:p>
          <a:p>
            <a:r>
              <a:rPr sz="1100" b="1">
                <a:solidFill>
                  <a:srgbClr val="131B2E"/>
                </a:solidFill>
                <a:latin typeface="Plus Jakarta Sans"/>
              </a:rPr>
              <a:t>Diagnosis Driven by History</a:t>
            </a:r>
          </a:p>
          <a:p>
            <a:r>
              <a:rPr sz="950">
                <a:solidFill>
                  <a:srgbClr val="64748B"/>
                </a:solidFill>
                <a:latin typeface="Inter"/>
              </a:rPr>
              <a:t>Diagnostic accuracy relies on thorough history-taking, yet doctors spend most time typing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3291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3017520" cy="128016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r>
              <a:rPr sz="2400" b="1">
                <a:solidFill>
                  <a:srgbClr val="006194"/>
                </a:solidFill>
                <a:latin typeface="Plus Jakarta Sans"/>
              </a:rPr>
              <a:t>4k-10k</a:t>
            </a:r>
          </a:p>
          <a:p>
            <a:r>
              <a:rPr sz="1100" b="1">
                <a:solidFill>
                  <a:srgbClr val="131B2E"/>
                </a:solidFill>
                <a:latin typeface="Plus Jakarta Sans"/>
              </a:rPr>
              <a:t>Daily OPD Footfall / Hospital</a:t>
            </a:r>
          </a:p>
          <a:p>
            <a:r>
              <a:rPr sz="950">
                <a:solidFill>
                  <a:srgbClr val="64748B"/>
                </a:solidFill>
                <a:latin typeface="Inter"/>
              </a:rPr>
              <a:t>Severe overcrowding in government hospital foyers causes chaotic queues and patient distress.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7132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6766560" cy="1280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r>
              <a:rPr sz="1300" b="1">
                <a:solidFill>
                  <a:srgbClr val="006194"/>
                </a:solidFill>
                <a:latin typeface="Plus Jakarta Sans"/>
              </a:rPr>
              <a:t>1. Overburdened Medical Officers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31B2E"/>
                </a:solidFill>
                <a:latin typeface="Inter"/>
              </a:rPr>
              <a:t>Physicians spend 60% of their 2-minute slot repeatedly asking basic demographic and symptom questions or typing into legacy systems, leading to severe diagnostic burnout and lost examination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7132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766560" cy="1280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r>
              <a:rPr sz="1300" b="1">
                <a:solidFill>
                  <a:srgbClr val="006194"/>
                </a:solidFill>
                <a:latin typeface="Plus Jakarta Sans"/>
              </a:rPr>
              <a:t>2. The Scattered Paper Record Trail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31B2E"/>
                </a:solidFill>
                <a:latin typeface="Inter"/>
              </a:rPr>
              <a:t>Patients carry wrinkled plastic bags of previous paper prescriptions, lab slips, and discharge summaries. Doctors cannot review 5 years of paper records in 60 seconds, causing redundant lab re-tests.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63440"/>
            <a:ext cx="7132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663440"/>
            <a:ext cx="6766560" cy="12801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r>
              <a:rPr sz="1300" b="1">
                <a:solidFill>
                  <a:srgbClr val="006194"/>
                </a:solidFill>
                <a:latin typeface="Plus Jakarta Sans"/>
              </a:rPr>
              <a:t>3. Digital Divide &amp; Low Literacy Exclusion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31B2E"/>
                </a:solidFill>
                <a:latin typeface="Inter"/>
              </a:rPr>
              <a:t>Elderly, rural, and illiterate citizens cannot navigate complex smartphone apps or web portals. Over 40% of public hospital attendees require accompanied family assistance for registration.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PROPOSED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MediKiosk: Transforming Hospital Foyers into Clinical Gateways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A self-service, tactile pre-consultation kiosk generating physician-ready clinical summaries before doctor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91440"/>
          </a:xfrm>
          <a:prstGeom prst="rect">
            <a:avLst/>
          </a:prstGeom>
          <a:solidFill>
            <a:srgbClr val="00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194"/>
                </a:solidFill>
                <a:latin typeface="Plus Jakarta Sans"/>
              </a:rPr>
              <a:t>Zero-Training Tactile Interface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31B2E"/>
                </a:solidFill>
                <a:latin typeface="Inter"/>
              </a:rPr>
              <a:t>Oversized 72px touch targets, bilingual audio prompts, and browser-native Web Speech API empower elderly and rural patients to register and converse without prior digital literacy.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212080" cy="91440"/>
          </a:xfrm>
          <a:prstGeom prst="rect">
            <a:avLst/>
          </a:prstGeom>
          <a:solidFill>
            <a:srgbClr val="00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948"/>
                </a:solidFill>
                <a:latin typeface="Plus Jakarta Sans"/>
              </a:rPr>
              <a:t>Dual-Stream Clinical Intelligence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31B2E"/>
                </a:solidFill>
                <a:latin typeface="Inter"/>
              </a:rPr>
              <a:t>World-first intake platform supporting both modern Allopathic (SOCRATES) inquiry and classical Ayurvedic (Dashavidha Pariksha) constitutional triage.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91440"/>
          </a:xfrm>
          <a:prstGeom prst="rect">
            <a:avLst/>
          </a:prstGeom>
          <a:solidFill>
            <a:srgbClr val="006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19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781"/>
                </a:solidFill>
                <a:latin typeface="Plus Jakarta Sans"/>
              </a:rPr>
              <a:t>Vision OCR Paper Digitization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31B2E"/>
                </a:solidFill>
                <a:latin typeface="Inter"/>
              </a:rPr>
              <a:t>Instant client-side Tesseract.js OCR scans previous prescription slips and lab papers right in the kiosk viewfinder, extracting active drugs without cloud vision APIs.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77639"/>
            <a:ext cx="5212080" cy="91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19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A192F"/>
                </a:solidFill>
                <a:latin typeface="Plus Jakarta Sans"/>
              </a:rPr>
              <a:t>Doctor-in-the-Loop Governance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31B2E"/>
                </a:solidFill>
                <a:latin typeface="Inter"/>
              </a:rPr>
              <a:t>Never delivers an unsupervised autonomous diagnosis. Produces an editable draft EHR summary for the physician, preserving 100% clinical authority and zero legal 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The 5-Step Patient Journey: Seamless Kiosk-to-Consult Pipeline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Designed for rapid 90-second intake in busy public hospital outpatient foyers.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0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783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6194"/>
                </a:solidFill>
                <a:latin typeface="Plus Jakarta Sans"/>
              </a:rPr>
              <a:t>Step 1: IDENTIFY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31B2E"/>
                </a:solidFill>
                <a:latin typeface="Plus Jakarta Sans"/>
              </a:rPr>
              <a:t>ABHA &amp; Guest Check-In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14-digit ABHA entry with on-screen numeric keypad or QR scan. Instant 1-tap 'Guest Skip' for patients without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20574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0" y="2057400"/>
            <a:ext cx="640080" cy="640080"/>
          </a:xfrm>
          <a:prstGeom prst="ellipse">
            <a:avLst/>
          </a:prstGeom>
          <a:solidFill>
            <a:srgbClr val="006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783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6781"/>
                </a:solidFill>
                <a:latin typeface="Plus Jakarta Sans"/>
              </a:rPr>
              <a:t>Step 2: CONVERSE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31B2E"/>
                </a:solidFill>
                <a:latin typeface="Plus Jakarta Sans"/>
              </a:rPr>
              <a:t>Voice/Touch Triage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Speaks or taps answers. Gemini AI asks 3 structured follow-up questions in preferred language (SOCRATES or AYUSH).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20574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03520" y="2057400"/>
            <a:ext cx="640080" cy="640080"/>
          </a:xfrm>
          <a:prstGeom prst="ellipse">
            <a:avLst/>
          </a:prstGeom>
          <a:solidFill>
            <a:srgbClr val="00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880360"/>
            <a:ext cx="1783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6194"/>
                </a:solidFill>
                <a:latin typeface="Plus Jakarta Sans"/>
              </a:rPr>
              <a:t>Step 3: SCAN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31B2E"/>
                </a:solidFill>
                <a:latin typeface="Plus Jakarta Sans"/>
              </a:rPr>
              <a:t>Vision OCR Capture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Place old prescription slip in camera viewfinder. Client-side Tesseract.js extracts prior medications and dosages.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828800"/>
            <a:ext cx="20574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79" y="2057400"/>
            <a:ext cx="640080" cy="640080"/>
          </a:xfrm>
          <a:prstGeom prst="ellipse">
            <a:avLst/>
          </a:prstGeom>
          <a:solidFill>
            <a:srgbClr val="00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2880360"/>
            <a:ext cx="1783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6948"/>
                </a:solidFill>
                <a:latin typeface="Plus Jakarta Sans"/>
              </a:rPr>
              <a:t>Step 4: SUMMARIZE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31B2E"/>
                </a:solidFill>
                <a:latin typeface="Plus Jakarta Sans"/>
              </a:rPr>
              <a:t>Clinical Synthesis &amp; Token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AI synthesizes full transcript + OCR into structured draft EHR. Physical/digital Token issued with OPD room assignment.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828800"/>
            <a:ext cx="20574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2057400"/>
            <a:ext cx="640080" cy="64008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880360"/>
            <a:ext cx="1783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192F"/>
                </a:solidFill>
                <a:latin typeface="Plus Jakarta Sans"/>
              </a:rPr>
              <a:t>Step 5: CONSULT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31B2E"/>
                </a:solidFill>
                <a:latin typeface="Plus Jakarta Sans"/>
              </a:rPr>
              <a:t>Physician Review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Doctor opens pre-structured summary in Room 12. Validates findings in 20 seconds, shifts time to physical exam.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CLINICAL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Conversational AI: Rigorous Medical Inquiry via SOCRATES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Adaptive clinical questioning built on Google Gemini 2.0 Flash with zero hallucination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06194"/>
                </a:solidFill>
                <a:latin typeface="Plus Jakarta Sans"/>
              </a:rPr>
              <a:t>The Evidence-Based SOCRATES Framework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S - Site: </a:t>
            </a:r>
            <a:r>
              <a:rPr sz="1000">
                <a:solidFill>
                  <a:srgbClr val="64748B"/>
                </a:solidFill>
                <a:latin typeface="Inter"/>
              </a:rPr>
              <a:t>Where exactly is the pain or discomfort located?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O - Onset: </a:t>
            </a:r>
            <a:r>
              <a:rPr sz="1000">
                <a:solidFill>
                  <a:srgbClr val="64748B"/>
                </a:solidFill>
                <a:latin typeface="Inter"/>
              </a:rPr>
              <a:t>When did it start? Was it sudden, acute, or gradual?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C - Character: </a:t>
            </a:r>
            <a:r>
              <a:rPr sz="1000">
                <a:solidFill>
                  <a:srgbClr val="64748B"/>
                </a:solidFill>
                <a:latin typeface="Inter"/>
              </a:rPr>
              <a:t>What does it feel like? (Burning, aching, sharp, dull)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R - Radiation: </a:t>
            </a:r>
            <a:r>
              <a:rPr sz="1000">
                <a:solidFill>
                  <a:srgbClr val="64748B"/>
                </a:solidFill>
                <a:latin typeface="Inter"/>
              </a:rPr>
              <a:t>Does the sensation radiate to arms, back, or jaw?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A - Associations: </a:t>
            </a:r>
            <a:r>
              <a:rPr sz="1000">
                <a:solidFill>
                  <a:srgbClr val="64748B"/>
                </a:solidFill>
                <a:latin typeface="Inter"/>
              </a:rPr>
              <a:t>Any fever, nausea, vomiting, dizziness, or sweat?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T - Timing: </a:t>
            </a:r>
            <a:r>
              <a:rPr sz="1000">
                <a:solidFill>
                  <a:srgbClr val="64748B"/>
                </a:solidFill>
                <a:latin typeface="Inter"/>
              </a:rPr>
              <a:t>Is it constant or intermittent? Worse morning or night?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E - Exacerbating: </a:t>
            </a:r>
            <a:r>
              <a:rPr sz="1000">
                <a:solidFill>
                  <a:srgbClr val="64748B"/>
                </a:solidFill>
                <a:latin typeface="Inter"/>
              </a:rPr>
              <a:t>What makes it better or worse? (Rest, movement, food)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S - Severity: </a:t>
            </a:r>
            <a:r>
              <a:rPr sz="1000">
                <a:solidFill>
                  <a:srgbClr val="64748B"/>
                </a:solidFill>
                <a:latin typeface="Inter"/>
              </a:rPr>
              <a:t>How severe on a scale of 1-10? Does it impede work?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781"/>
                </a:solidFill>
                <a:latin typeface="Plus Jakarta Sans"/>
              </a:rPr>
              <a:t>Google Gemini 2.0 Flash Integration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31B2E"/>
                </a:solidFill>
                <a:latin typeface="Inter"/>
              </a:rPr>
              <a:t>• Sub-800ms Latency: Ultra-fast generation of the next structured follow-up question.
• Strict JSON Output: Returns structured question text + exactly 3 touch options with icons.
• Free-Tier Accessibility: Runs on zero API cost tier, ideal for public hospital scale.
• Zero Medical Hallucination: Guardrailed prompt strictly restricts inquiry to symptom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690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194"/>
                </a:solidFill>
                <a:latin typeface="Plus Jakarta Sans"/>
              </a:rPr>
              <a:t>100% Offline Clinical Heuristic Fallback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31B2E"/>
                </a:solidFill>
                <a:latin typeface="Inter"/>
              </a:rPr>
              <a:t>• Fail-Safe Resilience: If hospital internet drops or API quota is hit, MediKiosk instantly switches to its built-in rule-based decision tree.
• Deterministic Symptom Mapping: Guaranteed question progression across Duration, Associated Signs, and Severity without ever freezing or crashing.
• 100% Kiosk Uptime: Essential for high-stress, unpredictable rural hospital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CORE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AYUSH Innovation: Native Dashavidha Pariksha Intake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The first clinical intake tool in India to operationalize classical Ayurvedic examination at the triage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6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29000" cy="411480"/>
          </a:xfrm>
          <a:prstGeom prst="rect">
            <a:avLst/>
          </a:prstGeom>
          <a:solidFill>
            <a:srgbClr val="00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PRAKRITI &amp; VIKRITI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31B2E"/>
                </a:solidFill>
                <a:latin typeface="Inter"/>
              </a:rPr>
              <a:t>Assesses elemental Dosha equilibrium (Vata, Pitta, Kapha) based on Charaka Samhita (Vimana Sthana 8/94).
• Vata: Cold &amp; dry weather sensitivity, joint stiffness, restless sleep.
• Pitta: Hot &amp; humid discomfort, burning hunger (Tikshna Agni), acid reflux.
• Kapha: Cold/damp congestion, lethargy, deep sleep, slow metabolism.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29000" cy="411480"/>
          </a:xfrm>
          <a:prstGeom prst="rect">
            <a:avLst/>
          </a:prstGeom>
          <a:solidFill>
            <a:srgbClr val="006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AGNI &amp; DHATU EXAMINATION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31B2E"/>
                </a:solidFill>
                <a:latin typeface="Inter"/>
              </a:rPr>
              <a:t>Systematic assessment of digestive capacity and tissue strength vital for holistic Ayurvedic prescribing.
• Vishama Agni: Irregular appetite with bloating and flatulence (Vata).
• Tikshna Agni: Intense thirst and hyperacidity (Pitta).
• Manda Agni: Heaviness after minimal food intake (Kapha).
• Sama Agni: Balanced digestion.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429000" cy="411480"/>
          </a:xfrm>
          <a:prstGeom prst="rect">
            <a:avLst/>
          </a:prstGeom>
          <a:solidFill>
            <a:srgbClr val="00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ALIGNMENT WITH MINISTRY OF AYUSH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31B2E"/>
                </a:solidFill>
                <a:latin typeface="Inter"/>
              </a:rPr>
              <a:t>Supports India's National AYUSH Mission and integrated hospital mandates (AIIMS, CCRAS, AYUSH OPDs).
• Pre-Classified Dossier: Ayurvedic Vaidyas receive patient dosha profiles before consultation.
• Bridges Traditional &amp; Modern: Standardizes Ayurvedic intake records for ABDM digital health lockers.
• Saves 70% of Vaidya Intake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PATIENT SAFETY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Deterministic Red-Flag Detection: 0ms Emergency Intercept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Zero-latency local safety net routing acute medical emergencies directly to bedside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A1A1A"/>
                </a:solidFill>
                <a:latin typeface="Plus Jakarta Sans"/>
              </a:rPr>
              <a:t>Four Critical Clinical Red Flags Detected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1. Acute Cardiac / Chest Pain
</a:t>
            </a:r>
            <a:r>
              <a:rPr sz="950">
                <a:solidFill>
                  <a:srgbClr val="64748B"/>
                </a:solidFill>
                <a:latin typeface="Inter"/>
              </a:rPr>
              <a:t>Keywords: 'chest pain', 'chest tightness', 'crushing chest', 'सीने में दर्द'
Protocol: Intercepts suspect ACS / Myocardial Infarction immediately.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2. Severe Respiratory Distress
</a:t>
            </a:r>
            <a:r>
              <a:rPr sz="950">
                <a:solidFill>
                  <a:srgbClr val="64748B"/>
                </a:solidFill>
                <a:latin typeface="Inter"/>
              </a:rPr>
              <a:t>Keywords: 'breathing difficulty', 'shortness of breath', 'choking', 'सांस में तकलीफ'
Protocol: Intercepts acute asthma, COPD exacerbation, pulmonary edema.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3. Acute Hemorrhage / Bleeding
</a:t>
            </a:r>
            <a:r>
              <a:rPr sz="950">
                <a:solidFill>
                  <a:srgbClr val="64748B"/>
                </a:solidFill>
                <a:latin typeface="Inter"/>
              </a:rPr>
              <a:t>Keywords: 'severe bleeding', 'vomiting blood', 'coughing blood', 'खून की उल्टी'
Protocol: Intercepts GI bleed, severe trauma, active vascular injury.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4. Loss of Consciousness / Syncope
</a:t>
            </a:r>
            <a:r>
              <a:rPr sz="950">
                <a:solidFill>
                  <a:srgbClr val="64748B"/>
                </a:solidFill>
                <a:latin typeface="Inter"/>
              </a:rPr>
              <a:t>Keywords: 'unconscious', 'fainted', 'seizure', 'convulsions', 'बेहोश हो जाना'
Protocol: Intercepts stroke, neurological deficit, hypoglycemia shock.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06194"/>
                </a:solidFill>
                <a:latin typeface="Plus Jakarta Sans"/>
              </a:rPr>
              <a:t>Why Deterministic Regex Beats LLM In Triage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0ms Execution Latency: </a:t>
            </a:r>
            <a:r>
              <a:rPr sz="950">
                <a:solidFill>
                  <a:srgbClr val="131B2E"/>
                </a:solidFill>
                <a:latin typeface="Inter"/>
              </a:rPr>
              <a:t>No network roundtrip to an external API. The moment a critical keyword is spoken or tapped, intercept happens locally in &lt;1 millisecond.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Zero False-Negative Safety Guarantee: </a:t>
            </a:r>
            <a:r>
              <a:rPr sz="950">
                <a:solidFill>
                  <a:srgbClr val="131B2E"/>
                </a:solidFill>
                <a:latin typeface="Inter"/>
              </a:rPr>
              <a:t>Generative LLMs can hallucinate reassurance or attempt to troubleshoot. Regex keyword matching guarantees 100% deterministic safety gating.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Automatic Emergency Token #E-09: </a:t>
            </a:r>
            <a:r>
              <a:rPr sz="950">
                <a:solidFill>
                  <a:srgbClr val="131B2E"/>
                </a:solidFill>
                <a:latin typeface="Inter"/>
              </a:rPr>
              <a:t>Instantly assigns emergency token #E-09, completely bypassing standard queues and routing to Emergency Bed Triage.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Audible Chime &amp; Nursing Notification: </a:t>
            </a:r>
            <a:r>
              <a:rPr sz="950">
                <a:solidFill>
                  <a:srgbClr val="131B2E"/>
                </a:solidFill>
                <a:latin typeface="Inter"/>
              </a:rPr>
              <a:t>Triggers high-frequency acoustic alert at nursing desk with screen guidance: 'A staff member has been notified. Please remain seated.'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Strict Realism: </a:t>
            </a:r>
            <a:r>
              <a:rPr sz="950">
                <a:solidFill>
                  <a:srgbClr val="131B2E"/>
                </a:solidFill>
                <a:latin typeface="Inter"/>
              </a:rPr>
              <a:t>Eliminates fabricated fake sensor readouts; displays only authentic AI-derived triage assessment.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INCLUSION &amp;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Vision OCR &amp; Multilingual Inclusion: Zero-Barrier Access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Digitizing wrinkled paper prescriptions while welcoming non-English and illiterate citizens.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8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06781"/>
                </a:solidFill>
                <a:latin typeface="Plus Jakarta Sans"/>
              </a:rPr>
              <a:t>Client-Side Tesseract.js OCR Engine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In-Browser Processing: </a:t>
            </a:r>
            <a:r>
              <a:rPr sz="950">
                <a:solidFill>
                  <a:srgbClr val="64748B"/>
                </a:solidFill>
                <a:latin typeface="Inter"/>
              </a:rPr>
              <a:t>OCR executes directly on the kiosk CPU using WebAssembly. Zero patient image data is ever transmitted to commercial third-party vision clouds.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Zero Recurring API Cost: </a:t>
            </a:r>
            <a:r>
              <a:rPr sz="950">
                <a:solidFill>
                  <a:srgbClr val="64748B"/>
                </a:solidFill>
                <a:latin typeface="Inter"/>
              </a:rPr>
              <a:t>No per-image billing (unlike Google Cloud Vision or AWS Textract). Completely free forever, saving lakhs in municipal hospital budgets.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Prescription Entity Extraction: </a:t>
            </a:r>
            <a:r>
              <a:rPr sz="950">
                <a:solidFill>
                  <a:srgbClr val="64748B"/>
                </a:solidFill>
                <a:latin typeface="Inter"/>
              </a:rPr>
              <a:t>Detects active drug names, dosage regimens (e.g. Paracetamol 500mg TDS, Amoxicillin), and correlated prior doctor clinical notes.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Live Visual Feedback: </a:t>
            </a:r>
            <a:r>
              <a:rPr sz="950">
                <a:solidFill>
                  <a:srgbClr val="64748B"/>
                </a:solidFill>
                <a:latin typeface="Inter"/>
              </a:rPr>
              <a:t>Animated laser sweep guide and percentage progress bar reassure patients while processing in 1.5–3.0 seconds.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31B2E"/>
                </a:solidFill>
                <a:latin typeface="Plus Jakarta Sans"/>
              </a:rPr>
              <a:t>• Gallery / Mobile Upload Fallback: </a:t>
            </a:r>
            <a:r>
              <a:rPr sz="950">
                <a:solidFill>
                  <a:srgbClr val="64748B"/>
                </a:solidFill>
                <a:latin typeface="Inter"/>
              </a:rPr>
              <a:t>Allows uploading lab report photographs or camera snapshots directly from gallery.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06194"/>
                </a:solidFill>
                <a:latin typeface="Plus Jakarta Sans"/>
              </a:rPr>
              <a:t>Multilingual Speech &amp; Tactile Humanism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Browser-Native Web Speech API: </a:t>
            </a:r>
            <a:r>
              <a:rPr sz="950">
                <a:solidFill>
                  <a:srgbClr val="131B2E"/>
                </a:solidFill>
                <a:latin typeface="Inter"/>
              </a:rPr>
              <a:t>Leverages built-in OS speech recognition engines (Chrome/Edge/Android) with zero API keys and zero network latency.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Regional Indian Languages: </a:t>
            </a:r>
            <a:r>
              <a:rPr sz="950">
                <a:solidFill>
                  <a:srgbClr val="131B2E"/>
                </a:solidFill>
                <a:latin typeface="Inter"/>
              </a:rPr>
              <a:t>Native acoustic models tuned for Hindi, Bengali, Marathi, Telugu, Tamil, and Indian English with accent tolerance.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Audio Prompt Voice Synthesis: </a:t>
            </a:r>
            <a:r>
              <a:rPr sz="950">
                <a:solidFill>
                  <a:srgbClr val="131B2E"/>
                </a:solidFill>
                <a:latin typeface="Inter"/>
              </a:rPr>
              <a:t>Patients can tap 'Listen in Hindi / सुनें' to hear legal consent and instructions spoken aloud through kiosk speakers.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Tactile Pictographic Cards: </a:t>
            </a:r>
            <a:r>
              <a:rPr sz="950">
                <a:solidFill>
                  <a:srgbClr val="131B2E"/>
                </a:solidFill>
                <a:latin typeface="Inter"/>
              </a:rPr>
              <a:t>Oversized pill cards with clear iconography (sun, calendar, medication, clock) enable illiterate citizens to simply tap their answers.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Bilingual Typography: </a:t>
            </a:r>
            <a:r>
              <a:rPr sz="950">
                <a:solidFill>
                  <a:srgbClr val="131B2E"/>
                </a:solidFill>
                <a:latin typeface="Inter"/>
              </a:rPr>
              <a:t>Every headline and response option displays paired English and Devanagari/regional scripts simultaneously.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Fullstack System Architecture: Edge-First &amp; Zero-Cost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Engineered for high performance, zero runtime license fees, and instant national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29000" cy="411480"/>
          </a:xfrm>
          <a:prstGeom prst="rect">
            <a:avLst/>
          </a:prstGeom>
          <a:solidFill>
            <a:srgbClr val="00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1. PRESENTATION TIER (KIOSK FRONTEND)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31B2E"/>
                </a:solidFill>
                <a:latin typeface="Inter"/>
              </a:rPr>
              <a:t>Next.js 15 App Router • React 19 • Tailwind CSS
• Plus Jakarta Sans &amp; Inter typographic hierarchy.
• 72px tactile touch pill components with active vibration / visual affordance.
• Web Speech API hook supporting continuous listening &amp; interim transcripts.
• Canvas glare-reducing ice-blue theme designed for commercial kiosk panels.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29000" cy="411480"/>
          </a:xfrm>
          <a:prstGeom prst="rect">
            <a:avLst/>
          </a:prstGeom>
          <a:solidFill>
            <a:srgbClr val="006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2. CLINICAL REASONING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31B2E"/>
                </a:solidFill>
                <a:latin typeface="Inter"/>
              </a:rPr>
              <a:t>Gemini 2.0 Flash • Next.js Route Handlers
• /api/gemini/follow-up: Adaptive SOCRATES &amp; AYUSH question generation.
• /api/gemini/summary: Comprehensive medical history synthesis from transcript + OCR.
• Deterministic Red-Flag Engine: Sub-millisecond keyword regex matcher.
• Local Clinical Heuristic Fallback for complete offline reliability.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429000" cy="411480"/>
          </a:xfrm>
          <a:prstGeom prst="rect">
            <a:avLst/>
          </a:prstGeom>
          <a:solidFill>
            <a:srgbClr val="00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3. VISION &amp; DATA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63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31B2E"/>
                </a:solidFill>
                <a:latin typeface="Inter"/>
              </a:rPr>
              <a:t>Tesseract.js WASM • React Context • LocalStorage
• Client-Side OCR: WebAssembly-compiled Tesseract.js for prescription processing.
• Ephemeral Kiosk Storage: Automatic session purging upon token issuance.
• Seeded &amp; Dynamic Queue: Real-time physician triage queue with priority categorization.
• HL7 FHIR R4 Bundle Ready schema for ABDM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DOCTOR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Physician Experience: Slashing Typing, Restoring Empathy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How MediKiosk turns pre-intake data into actionable 20-second clinical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10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06194"/>
                </a:solidFill>
                <a:latin typeface="Plus Jakarta Sans"/>
              </a:rPr>
              <a:t>The Room 12 Physician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Fast Staff Sign-In: </a:t>
            </a:r>
            <a:r>
              <a:rPr sz="950">
                <a:solidFill>
                  <a:srgbClr val="131B2E"/>
                </a:solidFill>
                <a:latin typeface="Inter"/>
              </a:rPr>
              <a:t>Doctor logs into duty console in 800ms via registered mobile or hospital staff ID with zero password friction.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Live Triage Queue Priority: </a:t>
            </a:r>
            <a:r>
              <a:rPr sz="950">
                <a:solidFill>
                  <a:srgbClr val="131B2E"/>
                </a:solidFill>
                <a:latin typeface="Inter"/>
              </a:rPr>
              <a:t>Dashboard automatically segments patients by severity: Red Alert ('Urgent Triage'), Amber ('Review Needed'), Green ('Standard').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Pre-Structured Clinical Encounter: </a:t>
            </a:r>
            <a:r>
              <a:rPr sz="950">
                <a:solidFill>
                  <a:srgbClr val="131B2E"/>
                </a:solidFill>
                <a:latin typeface="Inter"/>
              </a:rPr>
              <a:t>Instead of starting with a blank screen, doctor opens a pre-drafted dossier: Chief Complaint, HPI, Past Illness, Drug Allergies, and OCR Notes.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One-Click 'Call In' Chime: </a:t>
            </a:r>
            <a:r>
              <a:rPr sz="950">
                <a:solidFill>
                  <a:srgbClr val="131B2E"/>
                </a:solidFill>
                <a:latin typeface="Inter"/>
              </a:rPr>
              <a:t>Tapping 'Accept Patient / Call In' sounds a gentle chime in the waiting lobby and updates patient status in 1 click.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6194"/>
                </a:solidFill>
                <a:latin typeface="Plus Jakarta Sans"/>
              </a:rPr>
              <a:t>✔ Zero Administrative Burden: </a:t>
            </a:r>
            <a:r>
              <a:rPr sz="950">
                <a:solidFill>
                  <a:srgbClr val="131B2E"/>
                </a:solidFill>
                <a:latin typeface="Inter"/>
              </a:rPr>
              <a:t>Recovers 90–120 seconds of typing per patient, allowing the doctor to focus entirely on physical examination and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06781"/>
                </a:solidFill>
                <a:latin typeface="Plus Jakarta Sans"/>
              </a:rPr>
              <a:t>Generated Clinical Summary Structure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Chief Complaint: </a:t>
            </a:r>
            <a:r>
              <a:rPr sz="950">
                <a:solidFill>
                  <a:srgbClr val="64748B"/>
                </a:solidFill>
                <a:latin typeface="Inter"/>
              </a:rPr>
              <a:t>“Fever for 4 days, nocturnal dry cough, mild breathlessness” (Dictated in Hindi, translated).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History of Presenting Illness: </a:t>
            </a:r>
            <a:r>
              <a:rPr sz="950">
                <a:solidFill>
                  <a:srgbClr val="64748B"/>
                </a:solidFill>
                <a:latin typeface="Inter"/>
              </a:rPr>
              <a:t>58F reports moderate fever onset 4 days ago with non-productive cough, worsening at night.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Past Medical &amp; Drug History: </a:t>
            </a:r>
            <a:r>
              <a:rPr sz="950">
                <a:solidFill>
                  <a:srgbClr val="64748B"/>
                </a:solidFill>
                <a:latin typeface="Inter"/>
              </a:rPr>
              <a:t>Borderline hypertension (2 yrs). No known drug allergies (NKDA) reported at kiosk.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Review of Systems: </a:t>
            </a:r>
            <a:r>
              <a:rPr sz="950">
                <a:solidFill>
                  <a:srgbClr val="64748B"/>
                </a:solidFill>
                <a:latin typeface="Inter"/>
              </a:rPr>
              <a:t>Respiratory: +Dry cough, -Hemoptysis. Cardiac: -Chest pain. GI: Normal appetite.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Extracted OCR Values: </a:t>
            </a:r>
            <a:r>
              <a:rPr sz="950">
                <a:solidFill>
                  <a:srgbClr val="64748B"/>
                </a:solidFill>
                <a:latin typeface="Inter"/>
              </a:rPr>
              <a:t>Paracetamol 500mg TDS, Amoxicillin 250mg, BP 148/92 detected from scanned paper slip.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Triage Level &amp; Action: </a:t>
            </a:r>
            <a:r>
              <a:rPr sz="950">
                <a:solidFill>
                  <a:srgbClr val="64748B"/>
                </a:solidFill>
                <a:latin typeface="Inter"/>
              </a:rPr>
              <a:t>Assessed: Review Needed (Level 2). Rec OPD: Room 12 General Medicine / Pulmonology.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6194"/>
                </a:solidFill>
                <a:latin typeface="Plus Jakarta Sans"/>
              </a:rPr>
              <a:t>FINANCIAL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31B2E"/>
                </a:solidFill>
                <a:latin typeface="Plus Jakarta Sans"/>
              </a:rPr>
              <a:t>Unit Economics &amp; Hardware BOM: Amortizing to ₹0.42 / Intake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4748B"/>
                </a:solidFill>
                <a:latin typeface="Inter"/>
              </a:rPr>
              <a:t>Built entirely on standard off-the-shelf kiosk components and zero-license open-source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Inter"/>
              </a:rPr>
              <a:t>Smart India Hackathon 2026 • Problem Statement SIH26047 • Team Allied</a:t>
            </a:r>
            <a:r>
              <a:rPr sz="950">
                <a:solidFill>
                  <a:srgbClr val="64748B"/>
                </a:solidFill>
                <a:latin typeface="Inter"/>
              </a:rPr>
              <a:t>                                                                                                   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63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194"/>
                </a:solidFill>
                <a:latin typeface="Plus Jakarta Sans"/>
              </a:rPr>
              <a:t>Hardware Bill of Materials (BOM)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21.5" Touch Terminal: </a:t>
            </a:r>
            <a:r>
              <a:rPr sz="1050" b="1">
                <a:solidFill>
                  <a:srgbClr val="006948"/>
                </a:solidFill>
                <a:latin typeface="Plus Jakarta Sans"/>
              </a:rPr>
              <a:t>₹22,000
</a:t>
            </a:r>
            <a:r>
              <a:rPr sz="850">
                <a:solidFill>
                  <a:srgbClr val="64748B"/>
                </a:solidFill>
                <a:latin typeface="Inter"/>
              </a:rPr>
              <a:t>  (Commercial capacitive panel)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Directional USB Mic: </a:t>
            </a:r>
            <a:r>
              <a:rPr sz="1050" b="1">
                <a:solidFill>
                  <a:srgbClr val="006948"/>
                </a:solidFill>
                <a:latin typeface="Plus Jakarta Sans"/>
              </a:rPr>
              <a:t>₹3,500
</a:t>
            </a:r>
            <a:r>
              <a:rPr sz="850">
                <a:solidFill>
                  <a:srgbClr val="64748B"/>
                </a:solidFill>
                <a:latin typeface="Inter"/>
              </a:rPr>
              <a:t>  (Noise-canceling acoustic pickup)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Optical Scanner Tray: </a:t>
            </a:r>
            <a:r>
              <a:rPr sz="1050" b="1">
                <a:solidFill>
                  <a:srgbClr val="006948"/>
                </a:solidFill>
                <a:latin typeface="Plus Jakarta Sans"/>
              </a:rPr>
              <a:t>₹4,500
</a:t>
            </a:r>
            <a:r>
              <a:rPr sz="850">
                <a:solidFill>
                  <a:srgbClr val="64748B"/>
                </a:solidFill>
                <a:latin typeface="Inter"/>
              </a:rPr>
              <a:t>  (Top-down prescription capture)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Thermal Slip Printer: </a:t>
            </a:r>
            <a:r>
              <a:rPr sz="1050" b="1">
                <a:solidFill>
                  <a:srgbClr val="006948"/>
                </a:solidFill>
                <a:latin typeface="Plus Jakarta Sans"/>
              </a:rPr>
              <a:t>₹3,500
</a:t>
            </a:r>
            <a:r>
              <a:rPr sz="850">
                <a:solidFill>
                  <a:srgbClr val="64748B"/>
                </a:solidFill>
                <a:latin typeface="Inter"/>
              </a:rPr>
              <a:t>  (Direct token slip printing)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31B2E"/>
                </a:solidFill>
                <a:latin typeface="Plus Jakarta Sans"/>
              </a:rPr>
              <a:t>• Total Kiosk Hardware: </a:t>
            </a:r>
            <a:r>
              <a:rPr sz="1050" b="1">
                <a:solidFill>
                  <a:srgbClr val="006194"/>
                </a:solidFill>
                <a:latin typeface="Plus Jakarta Sans"/>
              </a:rPr>
              <a:t>₹33,500
</a:t>
            </a:r>
            <a:r>
              <a:rPr sz="850">
                <a:solidFill>
                  <a:srgbClr val="64748B"/>
                </a:solidFill>
                <a:latin typeface="Inter"/>
              </a:rPr>
              <a:t>  (~$400 one-time capital expense)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63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948"/>
                </a:solidFill>
                <a:latin typeface="Plus Jakarta Sans"/>
              </a:rPr>
              <a:t>Amortization &amp; Zero-Cost Stack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06948"/>
                </a:solidFill>
                <a:latin typeface="Plus Jakarta Sans"/>
              </a:rPr>
              <a:t>✔ ₹0.42 / Patient Intake
</a:t>
            </a:r>
            <a:r>
              <a:rPr sz="900">
                <a:solidFill>
                  <a:srgbClr val="131B2E"/>
                </a:solidFill>
                <a:latin typeface="Inter"/>
              </a:rPr>
              <a:t>In a typical hospital seeing 7,000 monthly OPD patients, the kiosk amortizes in under 12 months.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06948"/>
                </a:solidFill>
                <a:latin typeface="Plus Jakarta Sans"/>
              </a:rPr>
              <a:t>✔ Zero Vision API Cost
</a:t>
            </a:r>
            <a:r>
              <a:rPr sz="900">
                <a:solidFill>
                  <a:srgbClr val="131B2E"/>
                </a:solidFill>
                <a:latin typeface="Inter"/>
              </a:rPr>
              <a:t>Client-side Tesseract.js eliminates recurring cloud vision fees ($1.50/1000 requests elsewhere).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06948"/>
                </a:solidFill>
                <a:latin typeface="Plus Jakarta Sans"/>
              </a:rPr>
              <a:t>✔ Zero ASR API Cost
</a:t>
            </a:r>
            <a:r>
              <a:rPr sz="900">
                <a:solidFill>
                  <a:srgbClr val="131B2E"/>
                </a:solidFill>
                <a:latin typeface="Inter"/>
              </a:rPr>
              <a:t>Browser Web Speech API &amp; open Bhashini models run free without metered billing.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06948"/>
                </a:solidFill>
                <a:latin typeface="Plus Jakarta Sans"/>
              </a:rPr>
              <a:t>✔ Zero Database Cost
</a:t>
            </a:r>
            <a:r>
              <a:rPr sz="900">
                <a:solidFill>
                  <a:srgbClr val="131B2E"/>
                </a:solidFill>
                <a:latin typeface="Inter"/>
              </a:rPr>
              <a:t>Operates via stateless ephemeral sessions and direct ABDM FHIR syncing—no massive DB licensing.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06948"/>
                </a:solidFill>
                <a:latin typeface="Plus Jakarta Sans"/>
              </a:rPr>
              <a:t>✔ Low Power Footprint
</a:t>
            </a:r>
            <a:r>
              <a:rPr sz="900">
                <a:solidFill>
                  <a:srgbClr val="131B2E"/>
                </a:solidFill>
                <a:latin typeface="Inter"/>
              </a:rPr>
              <a:t>Consumes &lt;45 Watts. Compatible with standard hospital emergency inverter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063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6194"/>
                </a:solidFill>
                <a:latin typeface="Plus Jakarta Sans"/>
              </a:rPr>
              <a:t>Phased Deployment Roadmap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31B2E"/>
                </a:solidFill>
                <a:latin typeface="Plus Jakarta Sans"/>
              </a:rPr>
              <a:t>• Phase 1: Working MVP (Complete)
</a:t>
            </a:r>
            <a:r>
              <a:rPr sz="850">
                <a:solidFill>
                  <a:srgbClr val="64748B"/>
                </a:solidFill>
                <a:latin typeface="Inter"/>
              </a:rPr>
              <a:t>Complete 13-screen responsive Next.js prototype with Web Speech, Gemini 2.0 Flash, OCR, and Red-Flag triage fully functional.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31B2E"/>
                </a:solidFill>
                <a:latin typeface="Plus Jakarta Sans"/>
              </a:rPr>
              <a:t>• Phase 2: ABDM Sandbox Pilot (M1-M3)
</a:t>
            </a:r>
            <a:r>
              <a:rPr sz="850">
                <a:solidFill>
                  <a:srgbClr val="64748B"/>
                </a:solidFill>
                <a:latin typeface="Inter"/>
              </a:rPr>
              <a:t>Integration with National Health Authority Sandbox for milestone 1 (ABHA creation), M2 (Health Records), and M3 (FHIR exchange).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31B2E"/>
                </a:solidFill>
                <a:latin typeface="Plus Jakarta Sans"/>
              </a:rPr>
              <a:t>• Phase 3: District Hospital Trial (Q3 2026)
</a:t>
            </a:r>
            <a:r>
              <a:rPr sz="850">
                <a:solidFill>
                  <a:srgbClr val="64748B"/>
                </a:solidFill>
                <a:latin typeface="Inter"/>
              </a:rPr>
              <a:t>5-kiosk pilot deployment in AIIMS / District Civil Hospital OPD foyer with volunteer guidance.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31B2E"/>
                </a:solidFill>
                <a:latin typeface="Plus Jakarta Sans"/>
              </a:rPr>
              <a:t>• Phase 4: State-Wide Rollout (2027)
</a:t>
            </a:r>
            <a:r>
              <a:rPr sz="850">
                <a:solidFill>
                  <a:srgbClr val="64748B"/>
                </a:solidFill>
                <a:latin typeface="Inter"/>
              </a:rPr>
              <a:t>Replication across Community Health Centers (CHCs) and AYUSH Wellness Clinics under NHM.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CFF"/>
                </a:solidFill>
                <a:latin typeface="Plus Jakarta Sans"/>
              </a:rPr>
              <a:t>THE IMPACT HORIZON</a:t>
            </a:r>
          </a:p>
          <a:p>
            <a:pPr>
              <a:spcBef>
                <a:spcPts val="600"/>
              </a:spcBef>
            </a:pPr>
            <a:r>
              <a:rPr sz="2600" b="1">
                <a:solidFill>
                  <a:srgbClr val="FFFFFF"/>
                </a:solidFill>
                <a:latin typeface="Plus Jakarta Sans"/>
              </a:rPr>
              <a:t>Transforming Public Health Delivery at National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60320" cy="237744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560320" cy="237744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r>
              <a:rPr sz="3600" b="1">
                <a:solidFill>
                  <a:srgbClr val="006194"/>
                </a:solidFill>
                <a:latin typeface="Plus Jakarta Sans"/>
              </a:rPr>
              <a:t>+35%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OPD Throughput Increase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CBD5E1"/>
                </a:solidFill>
                <a:latin typeface="Inter"/>
              </a:rPr>
              <a:t>Doctors see more patients thoroughly without increasing shift hours or cognitive exhaustion.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237744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00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920240"/>
            <a:ext cx="2560320" cy="237744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r>
              <a:rPr sz="3600" b="1">
                <a:solidFill>
                  <a:srgbClr val="006948"/>
                </a:solidFill>
                <a:latin typeface="Plus Jakarta Sans"/>
              </a:rPr>
              <a:t>-75%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Physician Typing Burden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CBD5E1"/>
                </a:solidFill>
                <a:latin typeface="Inter"/>
              </a:rPr>
              <a:t>Shifts clerical data entry from clinical consult room to pre-waiting kiosk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560320" cy="237744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00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2560320" cy="237744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r>
              <a:rPr sz="3600" b="1">
                <a:solidFill>
                  <a:srgbClr val="006781"/>
                </a:solidFill>
                <a:latin typeface="Plus Jakarta Sans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Paper-to-Digital Onboarding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CBD5E1"/>
                </a:solidFill>
                <a:latin typeface="Inter"/>
              </a:rPr>
              <a:t>Bridges the ABDM 'first-mile' problem by digitizing paper prescriptions on entrance.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560320" cy="2377440"/>
          </a:xfrm>
          <a:prstGeom prst="roundRect">
            <a:avLst/>
          </a:prstGeom>
          <a:solidFill>
            <a:srgbClr val="132644"/>
          </a:solidFill>
          <a:ln w="1905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20240"/>
            <a:ext cx="2560320" cy="237744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r>
              <a:rPr sz="3600" b="1">
                <a:solidFill>
                  <a:srgbClr val="BA1A1A"/>
                </a:solidFill>
                <a:latin typeface="Plus Jakarta Sans"/>
              </a:rPr>
              <a:t>0ms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  <a:latin typeface="Plus Jakarta Sans"/>
              </a:rPr>
              <a:t>Emergency Interception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CBD5E1"/>
                </a:solidFill>
                <a:latin typeface="Inter"/>
              </a:rPr>
              <a:t>Zero-delay deterministic detection routes critical life-threatening conditions immediately.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061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Plus Jakarta Sans"/>
              </a:rPr>
              <a:t>“MediKiosk turns the hospital waiting foyer into an intelligent clinical gateway—</a:t>
            </a:r>
          </a:p>
          <a:p>
            <a:r>
              <a:rPr sz="1500" b="1">
                <a:solidFill>
                  <a:srgbClr val="93CCFF"/>
                </a:solidFill>
                <a:latin typeface="Plus Jakarta Sans"/>
              </a:rPr>
              <a:t>restoring dignity to patients and empathy and time to India's physicians.”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94A3B8"/>
                </a:solidFill>
                <a:latin typeface="Inter"/>
              </a:rPr>
              <a:t>Team Allied • Smart India Hackathon 2026 • Problem Statement SIH26047 • Working Prototype: https://github.com/demovirat4-max/SIH-MediKiosk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